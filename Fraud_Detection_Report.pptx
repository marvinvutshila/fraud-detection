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77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691640" y="3474720"/>
            <a:ext cx="3657600" cy="3657600"/>
          </a:xfrm>
          <a:prstGeom prst="ellipse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411480"/>
            <a:ext cx="109728" cy="8229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00C8B4"/>
                </a:solidFill>
                <a:latin typeface="Calibri"/>
              </a:rPr>
              <a:t>MACHINE LEARNING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spc="200" dirty="0">
                <a:solidFill>
                  <a:srgbClr val="8FA3B1"/>
                </a:solidFill>
                <a:latin typeface="Calibri"/>
              </a:rPr>
              <a:t>202</a:t>
            </a:r>
            <a:r>
              <a:rPr lang="en-US" sz="1100" b="0" i="0" spc="200" dirty="0">
                <a:solidFill>
                  <a:srgbClr val="8FA3B1"/>
                </a:solidFill>
                <a:latin typeface="Calibri"/>
              </a:rPr>
              <a:t>6 by Marvin Makhubela</a:t>
            </a:r>
            <a:endParaRPr sz="1100" b="0" i="0" spc="200" dirty="0">
              <a:solidFill>
                <a:srgbClr val="8FA3B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 dirty="0">
                <a:solidFill>
                  <a:srgbClr val="FFFFFF"/>
                </a:solidFill>
                <a:latin typeface="Calibri"/>
              </a:rPr>
              <a:t>Credit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 i="0">
                <a:solidFill>
                  <a:srgbClr val="00C8B4"/>
                </a:solidFill>
                <a:latin typeface="Calibri"/>
              </a:rPr>
              <a:t>Fraud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FA3B1"/>
                </a:solidFill>
                <a:latin typeface="Calibri"/>
              </a:rPr>
              <a:t>Multi-model ML pipeline with LR · Random Forest · XGBoost · 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920240" cy="960120"/>
          </a:xfrm>
          <a:prstGeom prst="rect">
            <a:avLst/>
          </a:prstGeom>
          <a:solidFill>
            <a:srgbClr val="1B2A3B"/>
          </a:solidFill>
          <a:ln w="635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800" b="1" i="0">
                <a:solidFill>
                  <a:srgbClr val="00C8B4"/>
                </a:solidFill>
                <a:latin typeface="Calibri"/>
              </a:rPr>
              <a:t>284,807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FA3B1"/>
                </a:solidFill>
                <a:latin typeface="Calibri"/>
              </a:rPr>
              <a:t>Total Transactions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3931920"/>
            <a:ext cx="1920240" cy="960120"/>
          </a:xfrm>
          <a:prstGeom prst="rect">
            <a:avLst/>
          </a:prstGeom>
          <a:solidFill>
            <a:srgbClr val="1B2A3B"/>
          </a:solidFill>
          <a:ln w="635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6040" y="39319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800" b="1" i="0">
                <a:solidFill>
                  <a:srgbClr val="00C8B4"/>
                </a:solidFill>
                <a:latin typeface="Calibri"/>
              </a:rPr>
              <a:t>0.173%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4348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FA3B1"/>
                </a:solidFill>
                <a:latin typeface="Calibri"/>
              </a:rPr>
              <a:t>Fraud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931920"/>
            <a:ext cx="1920240" cy="960120"/>
          </a:xfrm>
          <a:prstGeom prst="rect">
            <a:avLst/>
          </a:prstGeom>
          <a:solidFill>
            <a:srgbClr val="1B2A3B"/>
          </a:solidFill>
          <a:ln w="635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800" b="1" i="0">
                <a:solidFill>
                  <a:srgbClr val="00C8B4"/>
                </a:solidFill>
                <a:latin typeface="Calibri"/>
              </a:rPr>
              <a:t>4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4348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FA3B1"/>
                </a:solidFill>
                <a:latin typeface="Calibri"/>
              </a:rPr>
              <a:t>Compared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3931920"/>
            <a:ext cx="1920240" cy="960120"/>
          </a:xfrm>
          <a:prstGeom prst="rect">
            <a:avLst/>
          </a:prstGeom>
          <a:solidFill>
            <a:srgbClr val="1B2A3B"/>
          </a:solidFill>
          <a:ln w="635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39319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800" b="1" i="0">
                <a:solidFill>
                  <a:srgbClr val="00C8B4"/>
                </a:solidFill>
                <a:latin typeface="Calibri"/>
              </a:rPr>
              <a:t>98.27%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43484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8FA3B1"/>
                </a:solidFill>
                <a:latin typeface="Calibri"/>
              </a:rPr>
              <a:t>Best ROC-AUC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4023360" cy="14630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8755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00C8B4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37490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Detect fraudulent credit card transactions in a highly imbalanced dataset using multiple ML classifiers, then select the best model by PR-AUC.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60120"/>
            <a:ext cx="4023360" cy="14630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63440" y="98755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F4C534"/>
                </a:solidFill>
                <a:latin typeface="Calibr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298448"/>
            <a:ext cx="374903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European credit card transactions (Sep 2013). 284,807 rows with 492 fraud cases a 0.173% fraud rate, making class imbalance a core modelling challenge.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Pipeline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017520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3017520"/>
            <a:ext cx="1572768" cy="384048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3017520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438144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Data 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794760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Load raw CSV, inspect fraud 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3886200"/>
            <a:ext cx="146304" cy="0"/>
          </a:xfrm>
          <a:prstGeom prst="line">
            <a:avLst/>
          </a:prstGeom>
          <a:ln w="19050">
            <a:solidFill>
              <a:srgbClr val="00C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066543" y="3017520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66543" y="3017520"/>
            <a:ext cx="1572768" cy="384048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66543" y="3017520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2263" y="3438144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Feature Eng.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12263" y="3794760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Hour sin/cos, Log Amount, quantile bins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39311" y="3886200"/>
            <a:ext cx="146304" cy="0"/>
          </a:xfrm>
          <a:prstGeom prst="line">
            <a:avLst/>
          </a:prstGeom>
          <a:ln w="19050">
            <a:solidFill>
              <a:srgbClr val="00C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785615" y="3017520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785615" y="3017520"/>
            <a:ext cx="1572768" cy="384048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85615" y="3017520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31335" y="3438144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Train/Test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1335" y="3794760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Stratified 80/20, preserve fraud ratio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58383" y="3886200"/>
            <a:ext cx="146305" cy="0"/>
          </a:xfrm>
          <a:prstGeom prst="line">
            <a:avLst/>
          </a:prstGeom>
          <a:ln w="19050">
            <a:solidFill>
              <a:srgbClr val="00C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504688" y="3017520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504688" y="3017520"/>
            <a:ext cx="1572768" cy="384048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04688" y="3017520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50407" y="3438144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Scaling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0407" y="3794760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StandardScaler on all 33 features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77455" y="3886200"/>
            <a:ext cx="146304" cy="0"/>
          </a:xfrm>
          <a:prstGeom prst="line">
            <a:avLst/>
          </a:prstGeom>
          <a:ln w="19050">
            <a:solidFill>
              <a:srgbClr val="00C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223759" y="3017520"/>
            <a:ext cx="157276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23759" y="3017520"/>
            <a:ext cx="1572768" cy="384048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59" y="3017520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79" y="3438144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Modelling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79" y="3794760"/>
            <a:ext cx="148132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55555"/>
                </a:solidFill>
                <a:latin typeface="Calibri"/>
              </a:rPr>
              <a:t>LR · RF · XGB · Ensemble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8FA3B1"/>
                </a:solidFill>
                <a:latin typeface="Calibri"/>
              </a:rPr>
              <a:t>33 features total — 28 PCA components + 5 engineered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4023360" cy="1463040"/>
          </a:xfrm>
          <a:prstGeom prst="rect">
            <a:avLst/>
          </a:prstGeom>
          <a:solidFill>
            <a:srgbClr val="1B2A3B"/>
          </a:solidFill>
          <a:ln w="1905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09728" cy="146304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344168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C8B4"/>
                </a:solidFill>
                <a:latin typeface="Calibri"/>
              </a:rPr>
              <a:t>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73352"/>
            <a:ext cx="3730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8EFF5"/>
                </a:solidFill>
                <a:latin typeface="Calibri"/>
              </a:rPr>
              <a:t>Transaction hour of day (0–23) extracted from timestamp. Fraud patterns vary significantly by time of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34640"/>
            <a:ext cx="4023360" cy="1463040"/>
          </a:xfrm>
          <a:prstGeom prst="rect">
            <a:avLst/>
          </a:prstGeom>
          <a:solidFill>
            <a:srgbClr val="1B2A3B"/>
          </a:solidFill>
          <a:ln w="19050">
            <a:solidFill>
              <a:srgbClr val="00C8B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834640"/>
            <a:ext cx="109728" cy="146304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944368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C8B4"/>
                </a:solidFill>
                <a:latin typeface="Calibri"/>
              </a:rPr>
              <a:t>Hour_sin / Hour_cos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73552"/>
            <a:ext cx="3730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8EFF5"/>
                </a:solidFill>
                <a:latin typeface="Calibri"/>
              </a:rPr>
              <a:t>Cyclical encoding of hour using sine and cosine transforms, so midnight→1am is treated as close, not distant.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1234440"/>
            <a:ext cx="4023360" cy="1463040"/>
          </a:xfrm>
          <a:prstGeom prst="rect">
            <a:avLst/>
          </a:prstGeom>
          <a:solidFill>
            <a:srgbClr val="1B2A3B"/>
          </a:solidFill>
          <a:ln w="19050">
            <a:solidFill>
              <a:srgbClr val="F4C53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9160" y="1234440"/>
            <a:ext cx="109728" cy="1463040"/>
          </a:xfrm>
          <a:prstGeom prst="rect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0328" y="1344168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4C534"/>
                </a:solidFill>
                <a:latin typeface="Calibri"/>
              </a:rPr>
              <a:t>Log_Amount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1673352"/>
            <a:ext cx="3730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8EFF5"/>
                </a:solidFill>
                <a:latin typeface="Calibri"/>
              </a:rPr>
              <a:t>Log-transformed transaction amount. Removes right skew and places very large and small amounts on a comparable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834640"/>
            <a:ext cx="4023360" cy="1463040"/>
          </a:xfrm>
          <a:prstGeom prst="rect">
            <a:avLst/>
          </a:prstGeom>
          <a:solidFill>
            <a:srgbClr val="1B2A3B"/>
          </a:solidFill>
          <a:ln w="19050">
            <a:solidFill>
              <a:srgbClr val="F4C534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2834640"/>
            <a:ext cx="109728" cy="1463040"/>
          </a:xfrm>
          <a:prstGeom prst="rect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10328" y="2944368"/>
            <a:ext cx="3749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4C534"/>
                </a:solidFill>
                <a:latin typeface="Calibri"/>
              </a:rPr>
              <a:t>Amount_Q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3273552"/>
            <a:ext cx="3730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8EFF5"/>
                </a:solidFill>
                <a:latin typeface="Calibri"/>
              </a:rPr>
              <a:t>Quantile bin of transaction amount (quartile-based). Gives the model a discrete ordinal representation of spend level.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389120"/>
            <a:ext cx="8321040" cy="5486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FA3B1"/>
                </a:solidFill>
                <a:latin typeface="Calibri"/>
              </a:rPr>
              <a:t>V1–V28  ·  28 PCA-anonymised features supplied in the raw dataset, capturing latent transaction patterns whilst protecting cardholder privacy.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Model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Threshold selected to maximise F1 on validation set. Evaluation metric: PR-AUC (preferred for imbalanced data).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70432"/>
          <a:ext cx="72969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C8B4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TP / FP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0.08084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0.7118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0.9715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95.92%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94 / 13,350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0.00754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0.0213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0.8389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0.9826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95.92%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1.08%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94 /  8,649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3A00"/>
                          </a:solidFill>
                          <a:latin typeface="Calibri"/>
                        </a:rPr>
                        <a:t>XGBoost ★ BEST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3A00"/>
                          </a:solidFill>
                          <a:latin typeface="Calibri"/>
                        </a:rPr>
                        <a:t>0.00500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3A00"/>
                          </a:solidFill>
                          <a:latin typeface="Calibri"/>
                        </a:rPr>
                        <a:t>0.1954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3A00"/>
                          </a:solidFill>
                          <a:latin typeface="Calibri"/>
                        </a:rPr>
                        <a:t>0.8776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3A00"/>
                          </a:solidFill>
                          <a:latin typeface="Calibri"/>
                        </a:rPr>
                        <a:t>0.9840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3A00"/>
                          </a:solidFill>
                          <a:latin typeface="Calibri"/>
                        </a:rPr>
                        <a:t>90.82%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3A00"/>
                          </a:solidFill>
                          <a:latin typeface="Calibri"/>
                        </a:rPr>
                        <a:t>10.95%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3A00"/>
                          </a:solidFill>
                          <a:latin typeface="Calibri"/>
                        </a:rPr>
                        <a:t>89 /    724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0.02771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0.0135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0.8613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0.9738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95.92%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0.68%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94 / 13,685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20040" y="4069080"/>
            <a:ext cx="2697480" cy="868680"/>
          </a:xfrm>
          <a:prstGeom prst="rect">
            <a:avLst/>
          </a:prstGeom>
          <a:solidFill>
            <a:srgbClr val="E8F8F4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406908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Highest PR-AUC: 0.8776
XGBoost wins overall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069080"/>
            <a:ext cx="2697480" cy="868680"/>
          </a:xfrm>
          <a:prstGeom prst="rect">
            <a:avLst/>
          </a:prstGeom>
          <a:solidFill>
            <a:srgbClr val="FFF8E1"/>
          </a:solidFill>
          <a:ln w="12700">
            <a:solidFill>
              <a:srgbClr val="F4C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406908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Fewest False Positives: 724
XGBoost 19× fewer than LR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4069080"/>
            <a:ext cx="2697480" cy="868680"/>
          </a:xfrm>
          <a:prstGeom prst="rect">
            <a:avLst/>
          </a:prstGeom>
          <a:solidFill>
            <a:srgbClr val="FDE8E8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4069080"/>
            <a:ext cx="2606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XGBoost Recall: 90.82%
5 fewer fraud caught vs others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Precision-Recall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8FA3B1"/>
                </a:solidFill>
                <a:latin typeface="Calibri"/>
              </a:rPr>
              <a:t>Preferred metric for imbalanced datasets rewards high precision at high recall simultaneously.</a:t>
            </a:r>
          </a:p>
        </p:txBody>
      </p:sp>
      <p:pic>
        <p:nvPicPr>
          <p:cNvPr id="4" name="Picture 3" descr="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78992"/>
            <a:ext cx="576072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09360" y="1234440"/>
            <a:ext cx="109728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23444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4533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FA3B1"/>
                </a:solidFill>
                <a:latin typeface="Calibri"/>
              </a:rPr>
              <a:t>PR-AUC = 0.8776
Best overall curve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194560"/>
            <a:ext cx="109728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0545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FA3B1"/>
                </a:solidFill>
                <a:latin typeface="Calibri"/>
              </a:rPr>
              <a:t>PR-AUC = 0.8613
Strong but more FPs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154680"/>
            <a:ext cx="109728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46557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FA3B1"/>
                </a:solidFill>
                <a:latin typeface="Calibri"/>
              </a:rPr>
              <a:t>PR-AUC = 0.8389
Solid tree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114800"/>
            <a:ext cx="109728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Logistic Reg.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25696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FA3B1"/>
                </a:solidFill>
                <a:latin typeface="Calibri"/>
              </a:rPr>
              <a:t>PR-AUC = 0.7118
Linear limits visible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ROC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555555"/>
                </a:solidFill>
                <a:latin typeface="Calibri"/>
              </a:rPr>
              <a:t>All models perform exceptionally ROC-AUC ≥ 0.97 across the board, confirming strong discriminative power.</a:t>
            </a:r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576072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63640" y="1188720"/>
            <a:ext cx="2606040" cy="777240"/>
          </a:xfrm>
          <a:prstGeom prst="rect">
            <a:avLst/>
          </a:prstGeom>
          <a:solidFill>
            <a:srgbClr val="0D1B2A"/>
          </a:solidFill>
          <a:ln w="15240">
            <a:solidFill>
              <a:srgbClr val="2ECC71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63640" y="118872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2ECC71"/>
                </a:solidFill>
                <a:latin typeface="Calibri"/>
              </a:rPr>
              <a:t>0.9840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2763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FA3B1"/>
                </a:solidFill>
                <a:latin typeface="Calibri"/>
              </a:rPr>
              <a:t>XGBoost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148840"/>
            <a:ext cx="2606040" cy="777240"/>
          </a:xfrm>
          <a:prstGeom prst="rect">
            <a:avLst/>
          </a:prstGeom>
          <a:solidFill>
            <a:srgbClr val="0D1B2A"/>
          </a:solidFill>
          <a:ln w="15240">
            <a:solidFill>
              <a:srgbClr val="E67E22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214884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0.9826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58775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FA3B1"/>
                </a:solidFill>
                <a:latin typeface="Calibri"/>
              </a:rPr>
              <a:t>Random Forest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108960"/>
            <a:ext cx="2606040" cy="777240"/>
          </a:xfrm>
          <a:prstGeom prst="rect">
            <a:avLst/>
          </a:prstGeom>
          <a:solidFill>
            <a:srgbClr val="0D1B2A"/>
          </a:solidFill>
          <a:ln w="15240">
            <a:solidFill>
              <a:srgbClr val="3498DB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310896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3498DB"/>
                </a:solidFill>
                <a:latin typeface="Calibri"/>
              </a:rPr>
              <a:t>0.9715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4787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FA3B1"/>
                </a:solidFill>
                <a:latin typeface="Calibri"/>
              </a:rPr>
              <a:t>Logistic Reg.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069080"/>
            <a:ext cx="2606040" cy="777240"/>
          </a:xfrm>
          <a:prstGeom prst="rect">
            <a:avLst/>
          </a:prstGeom>
          <a:solidFill>
            <a:srgbClr val="0D1B2A"/>
          </a:solidFill>
          <a:ln w="15240">
            <a:solidFill>
              <a:srgbClr val="E74C3C"/>
            </a:solidFill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  <a:latin typeface="Calibri"/>
              </a:rPr>
              <a:t>0.9738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507992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FA3B1"/>
                </a:solidFill>
                <a:latin typeface="Calibri"/>
              </a:rPr>
              <a:t>Ensemble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Confusion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FA3B1"/>
                </a:solidFill>
                <a:latin typeface="Calibri"/>
              </a:rPr>
              <a:t>Actual vs predicted at each model's optimal threshold</a:t>
            </a:r>
          </a:p>
        </p:txBody>
      </p:sp>
      <p:pic>
        <p:nvPicPr>
          <p:cNvPr id="4" name="Picture 3" descr="cm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406908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2788920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FA3B1"/>
                </a:solidFill>
                <a:latin typeface="Calibri"/>
              </a:rPr>
              <a:t>Logistic Regression</a:t>
            </a:r>
          </a:p>
        </p:txBody>
      </p:sp>
      <p:pic>
        <p:nvPicPr>
          <p:cNvPr id="6" name="Picture 5" descr="cm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960120"/>
            <a:ext cx="406908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59" y="2788920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FA3B1"/>
                </a:solidFill>
                <a:latin typeface="Calibri"/>
              </a:rPr>
              <a:t>Random Forest</a:t>
            </a:r>
          </a:p>
        </p:txBody>
      </p:sp>
      <p:pic>
        <p:nvPicPr>
          <p:cNvPr id="8" name="Picture 7" descr="cm_xg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971800"/>
            <a:ext cx="406908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4800600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FA3B1"/>
                </a:solidFill>
                <a:latin typeface="Calibri"/>
              </a:rPr>
              <a:t>XGBoost</a:t>
            </a:r>
          </a:p>
        </p:txBody>
      </p:sp>
      <p:pic>
        <p:nvPicPr>
          <p:cNvPr id="10" name="Picture 9" descr="cm_e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59" y="2971800"/>
            <a:ext cx="406908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09159" y="4800600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8FA3B1"/>
                </a:solidFill>
                <a:latin typeface="Calibri"/>
              </a:rPr>
              <a:t>Ensemble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 err="1">
                <a:solidFill>
                  <a:srgbClr val="0D1B2A"/>
                </a:solidFill>
                <a:latin typeface="Calibri"/>
              </a:rPr>
              <a:t>XGBoost</a:t>
            </a:r>
            <a:r>
              <a:rPr sz="2800" b="1" i="0" dirty="0">
                <a:solidFill>
                  <a:srgbClr val="0D1B2A"/>
                </a:solidFill>
                <a:latin typeface="Calibri"/>
              </a:rPr>
              <a:t> Best Model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 dirty="0">
                <a:solidFill>
                  <a:srgbClr val="555555"/>
                </a:solidFill>
                <a:latin typeface="Calibri"/>
              </a:rPr>
              <a:t>Highest PR-AUC (0.8776) and lowest false-positive count (724) selected as the production model.</a:t>
            </a:r>
          </a:p>
        </p:txBody>
      </p:sp>
      <p:pic>
        <p:nvPicPr>
          <p:cNvPr id="4" name="Picture 3" descr="cm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754880" cy="3474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051560"/>
            <a:ext cx="3566160" cy="530352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303520" y="1051560"/>
            <a:ext cx="91440" cy="530352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0" y="105156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0C8B4"/>
                </a:solidFill>
                <a:latin typeface="Calibri"/>
              </a:rPr>
              <a:t>0.8776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05156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FA3B1"/>
                </a:solidFill>
                <a:latin typeface="Calibri"/>
              </a:rPr>
              <a:t>PR-AUC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645919"/>
            <a:ext cx="3566160" cy="530352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0" y="1645919"/>
            <a:ext cx="91440" cy="530352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0" y="1645919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0C8B4"/>
                </a:solidFill>
                <a:latin typeface="Calibri"/>
              </a:rPr>
              <a:t>0.9840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645919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FA3B1"/>
                </a:solidFill>
                <a:latin typeface="Calibri"/>
              </a:rP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240280"/>
            <a:ext cx="3566160" cy="530352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03520" y="2240280"/>
            <a:ext cx="91440" cy="530352"/>
          </a:xfrm>
          <a:prstGeom prst="rect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224028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4C534"/>
                </a:solidFill>
                <a:latin typeface="Calibri"/>
              </a:rPr>
              <a:t>90.82%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24028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FA3B1"/>
                </a:solidFill>
                <a:latin typeface="Calibri"/>
              </a:rPr>
              <a:t>Recall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834640"/>
            <a:ext cx="3566160" cy="530352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03520" y="2834640"/>
            <a:ext cx="91440" cy="530352"/>
          </a:xfrm>
          <a:prstGeom prst="rect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283464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4C534"/>
                </a:solidFill>
                <a:latin typeface="Calibri"/>
              </a:rPr>
              <a:t>10.95%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83464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FA3B1"/>
                </a:solidFill>
                <a:latin typeface="Calibri"/>
              </a:rPr>
              <a:t>Precision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3429000"/>
            <a:ext cx="3566160" cy="530352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03520" y="3429000"/>
            <a:ext cx="91440" cy="5303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0" y="342900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  <a:latin typeface="Calibri"/>
              </a:rPr>
              <a:t>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2900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FA3B1"/>
                </a:solidFill>
                <a:latin typeface="Calibri"/>
              </a:rPr>
              <a:t>True Positives (fraud caught)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4023360"/>
            <a:ext cx="3566160" cy="530352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1290320000" dist="483870000" dir="8100000" algn="tl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03520" y="4023360"/>
            <a:ext cx="91440" cy="5303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0" y="4023360"/>
            <a:ext cx="11887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E74C3C"/>
                </a:solidFill>
                <a:latin typeface="Calibri"/>
              </a:rPr>
              <a:t>724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02336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8FA3B1"/>
                </a:solidFill>
                <a:latin typeface="Calibri"/>
              </a:rPr>
              <a:t>False Positives (false alerts)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E8F8F4"/>
          </a:solidFill>
          <a:ln w="635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4746516"/>
            <a:ext cx="83210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 err="1">
                <a:solidFill>
                  <a:srgbClr val="0D1B2A"/>
                </a:solidFill>
                <a:latin typeface="Calibri"/>
              </a:rPr>
              <a:t>scale_pos_weight</a:t>
            </a:r>
            <a:r>
              <a:rPr sz="1000" b="0" i="0" dirty="0">
                <a:solidFill>
                  <a:srgbClr val="0D1B2A"/>
                </a:solidFill>
                <a:latin typeface="Calibri"/>
              </a:rPr>
              <a:t> = 1731.9  (imbalance ratio × 3) corrects for extreme class imbalance during </a:t>
            </a:r>
            <a:r>
              <a:rPr sz="1000" b="0" i="0" dirty="0" err="1">
                <a:solidFill>
                  <a:srgbClr val="0D1B2A"/>
                </a:solidFill>
                <a:latin typeface="Calibri"/>
              </a:rPr>
              <a:t>XGBoost</a:t>
            </a:r>
            <a:r>
              <a:rPr sz="1000" b="0" i="0" dirty="0">
                <a:solidFill>
                  <a:srgbClr val="0D1B2A"/>
                </a:solidFill>
                <a:latin typeface="Calibri"/>
              </a:rPr>
              <a:t>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Business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8FA3B1"/>
                </a:solidFill>
                <a:latin typeface="Calibri"/>
              </a:rPr>
              <a:t>Why XGBoost's precision advantage matters operationally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3657600" cy="640080"/>
          </a:xfrm>
          <a:prstGeom prst="rect">
            <a:avLst/>
          </a:prstGeom>
          <a:solidFill>
            <a:srgbClr val="1B2A3B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344168"/>
            <a:ext cx="4281677" cy="42062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15349" y="123444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13,350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39112"/>
            <a:ext cx="3657600" cy="640080"/>
          </a:xfrm>
          <a:prstGeom prst="rect">
            <a:avLst/>
          </a:prstGeom>
          <a:solidFill>
            <a:srgbClr val="1B2A3B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39112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148840"/>
            <a:ext cx="4389120" cy="42062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22792" y="2039112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13,685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43784"/>
            <a:ext cx="3657600" cy="640080"/>
          </a:xfrm>
          <a:prstGeom prst="rect">
            <a:avLst/>
          </a:prstGeom>
          <a:solidFill>
            <a:srgbClr val="1B2A3B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843784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953512"/>
            <a:ext cx="2773949" cy="42062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7621" y="2843784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8,649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48456"/>
            <a:ext cx="3657600" cy="640080"/>
          </a:xfrm>
          <a:prstGeom prst="rect">
            <a:avLst/>
          </a:prstGeom>
          <a:solidFill>
            <a:srgbClr val="1B2A3B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648456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4"/>
            <a:ext cx="232204" cy="42062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5876" y="3648456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724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00584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FA3B1"/>
                </a:solidFill>
                <a:latin typeface="Calibri"/>
              </a:rPr>
              <a:t>False Positives (transactions incorrectly flagged as fraud)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072A1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600768"/>
            <a:ext cx="822960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 dirty="0" err="1">
                <a:solidFill>
                  <a:srgbClr val="2ECC71"/>
                </a:solidFill>
                <a:latin typeface="Calibri"/>
              </a:rPr>
              <a:t>XGBoost</a:t>
            </a:r>
            <a:r>
              <a:rPr sz="1150" b="0" i="0" dirty="0">
                <a:solidFill>
                  <a:srgbClr val="2ECC71"/>
                </a:solidFill>
                <a:latin typeface="Calibri"/>
              </a:rPr>
              <a:t> triggers 18× fewer false alerts than Logistic Regression reducing manual review workload, customer friction, and investigation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C8B4"/>
                </a:solidFill>
                <a:latin typeface="Calibri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1100">
                <a:solidFill>
                  <a:srgbClr val="E8EFF5"/>
                </a:solidFill>
                <a:latin typeface="Calibri"/>
              </a:rPr>
              <a:t>XGBoost outperforms all models on PR-AUC (0.8776), the preferred metric for class-imbalanced fraud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1100">
                <a:solidFill>
                  <a:srgbClr val="E8EFF5"/>
                </a:solidFill>
                <a:latin typeface="Calibri"/>
              </a:rPr>
              <a:t>XGBoost reduces false positives by 18× vs Logistic Regression, slashing manual review burden.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1100">
                <a:solidFill>
                  <a:srgbClr val="E8EFF5"/>
                </a:solidFill>
                <a:latin typeface="Calibri"/>
              </a:rPr>
              <a:t>All models achieve ROC-AUC ≥ 0.97, confirming strong separability even without SMOTE oversampling.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1100">
                <a:solidFill>
                  <a:srgbClr val="E8EFF5"/>
                </a:solidFill>
                <a:latin typeface="Calibri"/>
              </a:rPr>
              <a:t>Cyclical hour encoding and log-transformed amount improved model signal meaningfully.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1100">
                <a:solidFill>
                  <a:srgbClr val="E8EFF5"/>
                </a:solidFill>
                <a:latin typeface="Calibri"/>
              </a:rPr>
              <a:t>Threshold optimisation (min 0.005) was critical — default 0.5 threshold would miss most fraud.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C534"/>
                </a:solidFill>
                <a:latin typeface="Calibri"/>
              </a:rPr>
              <a:t>Recommended Next Steps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1362456"/>
            <a:ext cx="274320" cy="274320"/>
          </a:xfrm>
          <a:prstGeom prst="ellipse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3624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1325880"/>
            <a:ext cx="3767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E8EFF5"/>
                </a:solidFill>
                <a:latin typeface="Calibri"/>
              </a:rPr>
              <a:t>SHAP explainability identify top features driving each prediction for compliance and auditability.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819656"/>
            <a:ext cx="274320" cy="274320"/>
          </a:xfrm>
          <a:prstGeom prst="ellipse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18196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1783080"/>
            <a:ext cx="3767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E8EFF5"/>
                </a:solidFill>
                <a:latin typeface="Calibri"/>
              </a:rPr>
              <a:t>SMOTE / cost-sensitive resampling may improve recall for the 5 missed frauds.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2276856"/>
            <a:ext cx="274320" cy="274320"/>
          </a:xfrm>
          <a:prstGeom prst="ellipse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22768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240280"/>
            <a:ext cx="3767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E8EFF5"/>
                </a:solidFill>
                <a:latin typeface="Calibri"/>
              </a:rPr>
              <a:t>Real-time inference API wrap </a:t>
            </a:r>
            <a:r>
              <a:rPr sz="1100" b="0" i="0" dirty="0" err="1">
                <a:solidFill>
                  <a:srgbClr val="E8EFF5"/>
                </a:solidFill>
                <a:latin typeface="Calibri"/>
              </a:rPr>
              <a:t>XGBoost</a:t>
            </a:r>
            <a:r>
              <a:rPr sz="1100" b="0" i="0" dirty="0">
                <a:solidFill>
                  <a:srgbClr val="E8EFF5"/>
                </a:solidFill>
                <a:latin typeface="Calibri"/>
              </a:rPr>
              <a:t> in a </a:t>
            </a:r>
            <a:r>
              <a:rPr sz="1100" b="0" i="0" dirty="0" err="1">
                <a:solidFill>
                  <a:srgbClr val="E8EFF5"/>
                </a:solidFill>
                <a:latin typeface="Calibri"/>
              </a:rPr>
              <a:t>FastAPI</a:t>
            </a:r>
            <a:r>
              <a:rPr sz="1100" b="0" i="0" dirty="0">
                <a:solidFill>
                  <a:srgbClr val="E8EFF5"/>
                </a:solidFill>
                <a:latin typeface="Calibri"/>
              </a:rPr>
              <a:t> or Flask service.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2734056"/>
            <a:ext cx="274320" cy="274320"/>
          </a:xfrm>
          <a:prstGeom prst="ellipse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27340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2697480"/>
            <a:ext cx="3767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E8EFF5"/>
                </a:solidFill>
                <a:latin typeface="Calibri"/>
              </a:rPr>
              <a:t>Monitoring track data drift and model degradation in production with Evidently or </a:t>
            </a:r>
            <a:r>
              <a:rPr sz="1100" b="0" i="0" dirty="0" err="1">
                <a:solidFill>
                  <a:srgbClr val="E8EFF5"/>
                </a:solidFill>
                <a:latin typeface="Calibri"/>
              </a:rPr>
              <a:t>NannyML</a:t>
            </a:r>
            <a:r>
              <a:rPr sz="1100" b="0" i="0" dirty="0">
                <a:solidFill>
                  <a:srgbClr val="E8EFF5"/>
                </a:solidFill>
                <a:latin typeface="Calibri"/>
              </a:rPr>
              <a:t>.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0" y="3191256"/>
            <a:ext cx="274320" cy="274320"/>
          </a:xfrm>
          <a:prstGeom prst="ellipse">
            <a:avLst/>
          </a:prstGeom>
          <a:solidFill>
            <a:srgbClr val="F4C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1912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3154680"/>
            <a:ext cx="376732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E8EFF5"/>
                </a:solidFill>
                <a:latin typeface="Calibri"/>
              </a:rPr>
              <a:t>Periodic retraining fraud patterns evolve; schedule monthly retraining on fresh labelled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C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Fraud Detection Pipeline  ·  XGBoost Selected  ·  PR-AUC 0.8776  ·  ROC-AUC 0.9840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773</Words>
  <Application>Microsoft Office PowerPoint</Application>
  <PresentationFormat>On-screen Show (16:9)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Marvin Makhubela</cp:lastModifiedBy>
  <cp:revision>2</cp:revision>
  <dcterms:created xsi:type="dcterms:W3CDTF">2013-01-27T09:14:16Z</dcterms:created>
  <dcterms:modified xsi:type="dcterms:W3CDTF">2026-05-25T15:48:10Z</dcterms:modified>
  <cp:category/>
</cp:coreProperties>
</file>